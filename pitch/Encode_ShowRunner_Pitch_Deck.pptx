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F"/>
          </a:solidFill>
          <a:ln w="12700">
            <a:solidFill>
              <a:srgbClr val="F8F5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11475720" cy="6217920"/>
          </a:xfrm>
          <a:prstGeom prst="rect">
            <a:avLst/>
          </a:prstGeom>
          <a:solidFill>
            <a:srgbClr val="FFFDF8"/>
          </a:solidFill>
          <a:ln w="15875">
            <a:solidFill>
              <a:srgbClr val="C2410C"/>
            </a:solidFill>
            <a:prstDash val="solid"/>
          </a:ln>
          <a:effectLst>
            <a:outerShdw sx="100000" sy="100000" kx="0" ky="0" algn="bl" rotWithShape="0" blurRad="12700" dist="50800" dir="2700000">
              <a:srgbClr val="C9BFA7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51560"/>
            <a:ext cx="777240" cy="44805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097280"/>
            <a:ext cx="44805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Encode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ShowRunner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87552" y="274320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orchestration layer for event operations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87552" y="3273552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connect where communities coordinate, where ticketing settles, and where trust needs guardrails.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87552" y="4617720"/>
            <a:ext cx="960120" cy="310896"/>
          </a:xfrm>
          <a:prstGeom prst="rect">
            <a:avLst/>
          </a:prstGeom>
          <a:solidFill>
            <a:srgbClr val="3F5A48"/>
          </a:solidFill>
          <a:ln w="12700">
            <a:solidFill>
              <a:srgbClr val="3F5A48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Luffa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84832" y="4617720"/>
            <a:ext cx="1097280" cy="3108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Endless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28416" y="4617720"/>
            <a:ext cx="914400" cy="3108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87552" y="513892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pitch deck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89320" y="109728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F6E9D6"/>
          </a:solidFill>
          <a:ln w="12700">
            <a:solidFill>
              <a:srgbClr val="F6E9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53912" y="1261872"/>
            <a:ext cx="14996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53912" y="1536192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Fragmented ops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153912" y="2011680"/>
            <a:ext cx="14996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Communication, ticketing, payout, and policy usually live in separate tools.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01000" y="1097280"/>
            <a:ext cx="1737360" cy="1828800"/>
          </a:xfrm>
          <a:prstGeom prst="roundRect">
            <a:avLst>
              <a:gd name="adj" fmla="val 4211"/>
            </a:avLst>
          </a:prstGeom>
          <a:solidFill>
            <a:srgbClr val="E5F1ED"/>
          </a:solidFill>
          <a:ln w="12700">
            <a:solidFill>
              <a:srgbClr val="E5F1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65592" y="1261872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165592" y="1536192"/>
            <a:ext cx="1408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workflow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65592" y="2011680"/>
            <a:ext cx="14081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and webhook flows run through the same orchestration layer.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921240" y="1097280"/>
            <a:ext cx="1463040" cy="1828800"/>
          </a:xfrm>
          <a:prstGeom prst="roundRect">
            <a:avLst>
              <a:gd name="adj" fmla="val 5000"/>
            </a:avLst>
          </a:prstGeom>
          <a:solidFill>
            <a:srgbClr val="FCE7E5"/>
          </a:solidFill>
          <a:ln w="12700">
            <a:solidFill>
              <a:srgbClr val="FCE7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85832" y="1261872"/>
            <a:ext cx="1133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85832" y="1536192"/>
            <a:ext cx="11338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Trusted AI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0085832" y="2011680"/>
            <a:ext cx="11338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helps, but guardrails stay in control.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89320" y="3246120"/>
            <a:ext cx="5440680" cy="2286000"/>
          </a:xfrm>
          <a:prstGeom prst="roundRect">
            <a:avLst>
              <a:gd name="adj" fmla="val 2400"/>
            </a:avLst>
          </a:prstGeom>
          <a:solidFill>
            <a:srgbClr val="F7F2E8"/>
          </a:solidFill>
          <a:ln w="12700">
            <a:solidFill>
              <a:srgbClr val="D7C7A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91072" y="349300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thesis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91072" y="384048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Events fail in the gaps between platforms.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ShowRunner closes those gaps by orchestrating communication, transaction flow, and trust inside one product.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31520" y="63093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 ShowRunner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F"/>
          </a:solidFill>
          <a:ln w="12700">
            <a:solidFill>
              <a:srgbClr val="F8F5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11475720" cy="6217920"/>
          </a:xfrm>
          <a:prstGeom prst="rect">
            <a:avLst/>
          </a:prstGeom>
          <a:solidFill>
            <a:srgbClr val="FFFDF8"/>
          </a:solidFill>
          <a:ln w="15875">
            <a:solidFill>
              <a:srgbClr val="E9DFC9"/>
            </a:solidFill>
            <a:prstDash val="solid"/>
          </a:ln>
          <a:effectLst>
            <a:outerShdw sx="100000" sy="100000" kx="0" ky="0" algn="bl" rotWithShape="0" blurRad="12700" dist="50800" dir="2700000">
              <a:srgbClr val="C9BFA7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5943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Events break when operations are spread across disconnected systems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Organisers are forced to jump between chat, admin panels, ticketing tools, and payment approvals. Each handoff adds friction and risk.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3383280" cy="2606040"/>
          </a:xfrm>
          <a:prstGeom prst="roundRect">
            <a:avLst>
              <a:gd name="adj" fmla="val 2807"/>
            </a:avLst>
          </a:prstGeom>
          <a:solidFill>
            <a:srgbClr val="EEF4EF"/>
          </a:solidFill>
          <a:ln w="12700">
            <a:solidFill>
              <a:srgbClr val="EEF4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2313432"/>
            <a:ext cx="30540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33272" y="2587752"/>
            <a:ext cx="30540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Coordination lives in chat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33272" y="3063240"/>
            <a:ext cx="305409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already work in conversation-first tools, but event actions still happen elsewhere.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2148840"/>
            <a:ext cx="3383280" cy="2606040"/>
          </a:xfrm>
          <a:prstGeom prst="roundRect">
            <a:avLst>
              <a:gd name="adj" fmla="val 2807"/>
            </a:avLst>
          </a:prstGeom>
          <a:solidFill>
            <a:srgbClr val="E8F1F4"/>
          </a:solidFill>
          <a:ln w="12700">
            <a:solidFill>
              <a:srgbClr val="E8F1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2313432"/>
            <a:ext cx="30540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53712" y="2587752"/>
            <a:ext cx="30540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Ticketing lives in a separate flow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53712" y="3063240"/>
            <a:ext cx="305409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financial backbone of the event often has no tight connection to the ops workflow.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09560" y="2148840"/>
            <a:ext cx="3383280" cy="2606040"/>
          </a:xfrm>
          <a:prstGeom prst="roundRect">
            <a:avLst>
              <a:gd name="adj" fmla="val 2807"/>
            </a:avLst>
          </a:prstGeom>
          <a:solidFill>
            <a:srgbClr val="F9ECE7"/>
          </a:solidFill>
          <a:ln w="12700">
            <a:solidFill>
              <a:srgbClr val="F9EC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74152" y="2313432"/>
            <a:ext cx="30540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74152" y="2587752"/>
            <a:ext cx="30540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is handled manually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074152" y="3063240"/>
            <a:ext cx="305409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 and policy checks become ad hoc, especially when money is involved.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525780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Result: teams waste time stitching systems together instead of running the event.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31520" y="63093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 ShowRunner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F"/>
          </a:solidFill>
          <a:ln w="12700">
            <a:solidFill>
              <a:srgbClr val="F8F5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11475720" cy="6217920"/>
          </a:xfrm>
          <a:prstGeom prst="rect">
            <a:avLst/>
          </a:prstGeom>
          <a:solidFill>
            <a:srgbClr val="FFFDF8"/>
          </a:solidFill>
          <a:ln w="15875">
            <a:solidFill>
              <a:srgbClr val="3F5A48"/>
            </a:solidFill>
            <a:prstDash val="solid"/>
          </a:ln>
          <a:effectLst>
            <a:outerShdw sx="100000" sy="100000" kx="0" ky="0" algn="bl" rotWithShape="0" blurRad="12700" dist="50800" dir="2700000">
              <a:srgbClr val="C9BFA7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5943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these platforms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picked one platform for each critical part of the event lifecycle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868680" y="1737360"/>
            <a:ext cx="3474720" cy="3611880"/>
          </a:xfrm>
          <a:prstGeom prst="roundRect">
            <a:avLst>
              <a:gd name="adj" fmla="val 2105"/>
            </a:avLst>
          </a:prstGeom>
          <a:solidFill>
            <a:srgbClr val="EDF5EE"/>
          </a:solidFill>
          <a:ln w="12700">
            <a:solidFill>
              <a:srgbClr val="EDF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901952"/>
            <a:ext cx="31455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Luffa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33272" y="2176272"/>
            <a:ext cx="31455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coordination begins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33272" y="2651760"/>
            <a:ext cx="3145536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Communities already communicate here. ShowRunner uses Luffa webhooks, commands, and button clicks so the workflow starts where people already are.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61688" y="1737360"/>
            <a:ext cx="3474720" cy="3611880"/>
          </a:xfrm>
          <a:prstGeom prst="roundRect">
            <a:avLst>
              <a:gd name="adj" fmla="val 2105"/>
            </a:avLst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901952"/>
            <a:ext cx="31455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Endless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26280" y="2176272"/>
            <a:ext cx="31455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transaction flow happens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26280" y="2651760"/>
            <a:ext cx="3145536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are not complete until ticketing, settlement, and payout are handled properly. Endless gives ShowRunner a transactional backbone.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54696" y="1737360"/>
            <a:ext cx="3474720" cy="3611880"/>
          </a:xfrm>
          <a:prstGeom prst="roundRect">
            <a:avLst>
              <a:gd name="adj" fmla="val 2105"/>
            </a:avLst>
          </a:prstGeom>
          <a:solidFill>
            <a:srgbClr val="FCF0E9"/>
          </a:solidFill>
          <a:ln w="12700">
            <a:solidFill>
              <a:srgbClr val="FCF0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19288" y="1901952"/>
            <a:ext cx="31455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19288" y="2176272"/>
            <a:ext cx="31455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trust is enforced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019288" y="2651760"/>
            <a:ext cx="3145536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should assist operational decisions, not bypass policy. Civic gives us a guardrail layer before meaningful actions are executed.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5669280"/>
            <a:ext cx="10469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ShowRunner is the orchestration layer that connects all three.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3093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 ShowRunner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F"/>
          </a:solidFill>
          <a:ln w="12700">
            <a:solidFill>
              <a:srgbClr val="F8F5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11475720" cy="6217920"/>
          </a:xfrm>
          <a:prstGeom prst="rect">
            <a:avLst/>
          </a:prstGeom>
          <a:solidFill>
            <a:srgbClr val="FFFDF8"/>
          </a:solidFill>
          <a:ln w="15875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C9BFA7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5943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workflow layer powers both the dashboard and the platform-native experience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68680" y="138988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implementation from the repo: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8680" y="1737360"/>
            <a:ext cx="10469880" cy="3474720"/>
          </a:xfrm>
          <a:prstGeom prst="roundRect">
            <a:avLst>
              <a:gd name="adj" fmla="val 1579"/>
            </a:avLst>
          </a:prstGeom>
          <a:solidFill>
            <a:srgbClr val="F9F6EF"/>
          </a:solidFill>
          <a:ln w="12700">
            <a:solidFill>
              <a:srgbClr val="D8CAB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2240280"/>
            <a:ext cx="1508760" cy="2057400"/>
          </a:xfrm>
          <a:prstGeom prst="roundRect">
            <a:avLst>
              <a:gd name="adj" fmla="val 2424"/>
            </a:avLst>
          </a:prstGeom>
          <a:solidFill>
            <a:srgbClr val="F6E9D6"/>
          </a:solidFill>
          <a:ln w="12700">
            <a:solidFill>
              <a:srgbClr val="F6E9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52728" y="2395728"/>
            <a:ext cx="1289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Trigger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907792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action or Luffa webhook starts the flow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2240280"/>
            <a:ext cx="1508760" cy="2057400"/>
          </a:xfrm>
          <a:prstGeom prst="roundRect">
            <a:avLst>
              <a:gd name="adj" fmla="val 2424"/>
            </a:avLst>
          </a:prstGeom>
          <a:solidFill>
            <a:srgbClr val="EAF1EE"/>
          </a:solidFill>
          <a:ln w="12700">
            <a:solidFill>
              <a:srgbClr val="EAF1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2395728"/>
            <a:ext cx="1289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Orchestrate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37560" y="2907792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routes into shared workflows and lifecycle checks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49240" y="2240280"/>
            <a:ext cx="1508760" cy="2057400"/>
          </a:xfrm>
          <a:prstGeom prst="roundRect">
            <a:avLst>
              <a:gd name="adj" fmla="val 2424"/>
            </a:avLst>
          </a:prstGeom>
          <a:solidFill>
            <a:srgbClr val="E7F2F1"/>
          </a:solidFill>
          <a:ln w="12700">
            <a:solidFill>
              <a:srgbClr val="E7F2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58968" y="2395728"/>
            <a:ext cx="1289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Enrich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40680" y="2907792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generates event copy and banner content when needed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452360" y="2240280"/>
            <a:ext cx="1508760" cy="2057400"/>
          </a:xfrm>
          <a:prstGeom prst="roundRect">
            <a:avLst>
              <a:gd name="adj" fmla="val 2424"/>
            </a:avLst>
          </a:prstGeom>
          <a:solidFill>
            <a:srgbClr val="F8ECE6"/>
          </a:solidFill>
          <a:ln w="12700">
            <a:solidFill>
              <a:srgbClr val="F8EC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62088" y="2395728"/>
            <a:ext cx="1289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Execute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543800" y="2907792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Endless handles ticketing, settlement summary, and payout simulation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555480" y="2240280"/>
            <a:ext cx="1508760" cy="2057400"/>
          </a:xfrm>
          <a:prstGeom prst="roundRect">
            <a:avLst>
              <a:gd name="adj" fmla="val 2424"/>
            </a:avLst>
          </a:prstGeom>
          <a:solidFill>
            <a:srgbClr val="F2EEDF"/>
          </a:solidFill>
          <a:ln w="12700">
            <a:solidFill>
              <a:srgbClr val="F2EE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65208" y="2395728"/>
            <a:ext cx="1289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Persist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46920" y="2907792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stores event state and powers inspection endpoints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05840" y="550468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modular monolith today, clean extension points for production integrations tomorrow.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63093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 ShowRunner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F"/>
          </a:solidFill>
          <a:ln w="12700">
            <a:solidFill>
              <a:srgbClr val="F8F5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11475720" cy="6217920"/>
          </a:xfrm>
          <a:prstGeom prst="rect">
            <a:avLst/>
          </a:prstGeom>
          <a:solidFill>
            <a:srgbClr val="FFFDF8"/>
          </a:solidFill>
          <a:ln w="15875">
            <a:solidFill>
              <a:srgbClr val="D97706"/>
            </a:solidFill>
            <a:prstDash val="solid"/>
          </a:ln>
          <a:effectLst>
            <a:outerShdw sx="100000" sy="100000" kx="0" ky="0" algn="bl" rotWithShape="0" blurRad="12700" dist="50800" dir="2700000">
              <a:srgbClr val="C9BFA7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5943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already a working prototype, not just a concept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68680" y="1783080"/>
            <a:ext cx="5715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backend with browser dashboard and webhook entrypoint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creation, sales simulation, settlement, and payout flows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API errors and explicit lifecycle transition guards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persistence through SQLAlchemy with indexed lookup paths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HTTP-level regression coverage and end-to-end workflow tests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949440" y="173736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EDF5EE"/>
          </a:solidFill>
          <a:ln w="12700">
            <a:solidFill>
              <a:srgbClr val="EDF5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14032" y="1901952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14032" y="2176272"/>
            <a:ext cx="1591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 tests passing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114032" y="2651760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and route coverage are green in the current repo.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052560" y="173736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17152" y="1901952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217152" y="2176272"/>
            <a:ext cx="1591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live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217152" y="2651760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 can run the lifecycle manually in the browser.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49440" y="356616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CF0E9"/>
          </a:solidFill>
          <a:ln w="12700">
            <a:solidFill>
              <a:srgbClr val="FCF0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14032" y="3730752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14032" y="4005072"/>
            <a:ext cx="1591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errors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114032" y="4480560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Client-facing failures are consistent and actionable.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52560" y="356616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4EFE1"/>
          </a:solidFill>
          <a:ln w="12700">
            <a:solidFill>
              <a:srgbClr val="F4EF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17152" y="3730752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217152" y="4005072"/>
            <a:ext cx="1591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Persisted events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217152" y="4480560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data survives requests and can be reset instantly.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562356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are proving that AI-assisted event ops can be practical when orchestration and guardrails come first.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31520" y="63093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 ShowRunner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F"/>
          </a:solidFill>
          <a:ln w="12700">
            <a:solidFill>
              <a:srgbClr val="F8F5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11475720" cy="6217920"/>
          </a:xfrm>
          <a:prstGeom prst="rect">
            <a:avLst/>
          </a:prstGeom>
          <a:solidFill>
            <a:srgbClr val="FFFDF8"/>
          </a:solidFill>
          <a:ln w="15875">
            <a:solidFill>
              <a:srgbClr val="C2410C"/>
            </a:solidFill>
            <a:prstDash val="solid"/>
          </a:ln>
          <a:effectLst>
            <a:outerShdw sx="100000" sy="100000" kx="0" ky="0" algn="bl" rotWithShape="0" blurRad="12700" dist="50800" dir="2700000">
              <a:srgbClr val="C9BFA7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960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Encode ShowRunner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77824" y="150876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ShowRunner turns fragmented event operations into one trusted, AI-assisted workflow.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in Luffa. Transaction flow in Endless. Guardrails in Civic. One orchestration layer on top.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4251960"/>
            <a:ext cx="960120" cy="310896"/>
          </a:xfrm>
          <a:prstGeom prst="rect">
            <a:avLst/>
          </a:prstGeom>
          <a:solidFill>
            <a:srgbClr val="3F5A48"/>
          </a:solidFill>
          <a:ln w="12700">
            <a:solidFill>
              <a:srgbClr val="3F5A48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Luffa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93392" y="4251960"/>
            <a:ext cx="1051560" cy="3108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Endless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18688" y="4251960"/>
            <a:ext cx="914400" cy="3108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0" y="4251960"/>
            <a:ext cx="1371600" cy="31089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ShowRunner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132320" y="1051560"/>
            <a:ext cx="3931920" cy="4480560"/>
          </a:xfrm>
          <a:prstGeom prst="roundRect">
            <a:avLst>
              <a:gd name="adj" fmla="val 1860"/>
            </a:avLst>
          </a:prstGeom>
          <a:solidFill>
            <a:srgbClr val="F8F2E6"/>
          </a:solidFill>
          <a:ln w="12700">
            <a:solidFill>
              <a:srgbClr val="DECC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132588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takeaway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60920" y="173736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chose platforms with complementary roles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built a working orchestration layer around them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used AI for leverage, not for uncontrolled decisions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architecture is ready to swap stubs for production services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06640" y="4800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406640" y="51389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and demo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63093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 ShowRunner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Encode ShowRunner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Encode ShowRunner</dc:title>
  <dc:subject>Hackathon pitch deck</dc:subject>
  <dc:creator>Codex</dc:creator>
  <cp:lastModifiedBy>Codex</cp:lastModifiedBy>
  <cp:revision>1</cp:revision>
  <dcterms:created xsi:type="dcterms:W3CDTF">2026-03-20T23:59:06Z</dcterms:created>
  <dcterms:modified xsi:type="dcterms:W3CDTF">2026-03-20T23:59:06Z</dcterms:modified>
</cp:coreProperties>
</file>